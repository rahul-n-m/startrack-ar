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89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18649" y="534898"/>
            <a:ext cx="4114800" cy="4114800"/>
          </a:xfrm>
          <a:prstGeom prst="ellipse">
            <a:avLst/>
          </a:prstGeom>
          <a:solidFill>
            <a:srgbClr val="4A7F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50408" y="992098"/>
            <a:ext cx="3200400" cy="3200400"/>
          </a:xfrm>
          <a:prstGeom prst="ellipse">
            <a:avLst/>
          </a:prstGeom>
          <a:solidFill>
            <a:srgbClr val="7A4FFF">
              <a:alpha val="15000"/>
            </a:srgbClr>
          </a:solidFill>
          <a:ln w="12700">
            <a:solidFill>
              <a:srgbClr val="4A7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84158" y="1554480"/>
            <a:ext cx="1920240" cy="192024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529029" y="2452324"/>
            <a:ext cx="164592" cy="164592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32320" y="2203163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D740"/>
                </a:solidFill>
              </a:rPr>
              <a:t>ISS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18488" y="879230"/>
            <a:ext cx="3059020" cy="581347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r>
              <a:rPr lang="en-US" sz="1200">
                <a:solidFill>
                  <a:srgbClr val="00B0F0"/>
                </a:solidFill>
              </a:rPr>
              <a:t>Experiential Learning — EVEN 2025–26</a:t>
            </a:r>
          </a:p>
          <a:p>
            <a:r>
              <a:rPr lang="en-US" sz="1100" b="1" kern="0" spc="100">
                <a:solidFill>
                  <a:srgbClr val="00D4FF"/>
                </a:solidFill>
              </a:rPr>
              <a:t>VI SEMESTER  ·  PHASE 2 REVIEW</a:t>
            </a:r>
            <a:endParaRPr lang="en-US" sz="1100"/>
          </a:p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6400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" y="175811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StarTrack AR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548640" y="285539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7AB3D4"/>
                </a:solidFill>
              </a:rPr>
              <a:t>Sensor Based Augmented </a:t>
            </a:r>
            <a:r>
              <a:rPr lang="en-US" sz="1500" i="1" dirty="0">
                <a:solidFill>
                  <a:srgbClr val="7AB3D4"/>
                </a:solidFill>
              </a:rPr>
              <a:t>Reality Astronomy Observation Assistant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474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3188970"/>
            <a:ext cx="45720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9" name="Graphic 1">
            <a:extLst>
              <a:ext uri="{FF2B5EF4-FFF2-40B4-BE49-F238E27FC236}">
                <a16:creationId xmlns:a16="http://schemas.microsoft.com/office/drawing/2014/main" id="{032675AD-3AA1-978B-B656-95E5B80B332E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130420" y="105182"/>
            <a:ext cx="1746210" cy="621942"/>
          </a:xfrm>
          <a:prstGeom prst="rect">
            <a:avLst/>
          </a:prstGeom>
        </p:spPr>
      </p:pic>
      <p:sp>
        <p:nvSpPr>
          <p:cNvPr id="41" name="object 7">
            <a:extLst>
              <a:ext uri="{FF2B5EF4-FFF2-40B4-BE49-F238E27FC236}">
                <a16:creationId xmlns:a16="http://schemas.microsoft.com/office/drawing/2014/main" id="{92195182-5C75-157F-D3DA-0F076CA1DF7D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9144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TEAM </a:t>
            </a:r>
            <a:r>
              <a:rPr lang="en-US" sz="1300" b="1" kern="0" spc="300" dirty="0">
                <a:solidFill>
                  <a:srgbClr val="00D4FF"/>
                </a:solidFill>
              </a:rPr>
              <a:t>&amp; MENTOR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7542" y="211719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822960"/>
            <a:ext cx="3749040" cy="137160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914400"/>
            <a:ext cx="640080" cy="640080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M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234440" y="914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4FF"/>
                </a:solidFill>
              </a:rPr>
              <a:t>MENTOR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34440" y="11704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</a:rPr>
              <a:t>Dr. Rekha B 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14630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B3D4"/>
                </a:solidFill>
              </a:rPr>
              <a:t>ASSISTANT PROFESSOR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34440" y="1673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B3D4"/>
                </a:solidFill>
              </a:rPr>
              <a:t>Department </a:t>
            </a:r>
            <a:r>
              <a:rPr lang="en-US" sz="900">
                <a:solidFill>
                  <a:srgbClr val="7AB3D4"/>
                </a:solidFill>
              </a:rPr>
              <a:t>of  ISE· </a:t>
            </a:r>
            <a:r>
              <a:rPr lang="en-US" sz="900" dirty="0">
                <a:solidFill>
                  <a:srgbClr val="7AB3D4"/>
                </a:solidFill>
              </a:rPr>
              <a:t>RV College of Engineering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215523"/>
            <a:ext cx="8083296" cy="1202436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00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</a:rPr>
              <a:t>TEAM MEMBERS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872623"/>
            <a:ext cx="82296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NAME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2608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USN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03520" y="28803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FF"/>
                </a:solidFill>
              </a:rPr>
              <a:t>EMAIL ID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3136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B Vinayaka Aili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26080" y="31363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B3D4"/>
                </a:solidFill>
              </a:rPr>
              <a:t>1RV23AI023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03520" y="3136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1">
                    <a:lumMod val="60000"/>
                    <a:lumOff val="40000"/>
                  </a:schemeClr>
                </a:solidFill>
              </a:rPr>
              <a:t>bvinayakaaili.ai23@rvce.edu.in</a:t>
            </a:r>
            <a:endParaRPr lang="en-US" sz="1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4864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</a:rPr>
              <a:t>Rahul N 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926080" y="34838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B3D4"/>
                </a:solidFill>
              </a:rPr>
              <a:t>1RV23CS190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03520" y="34838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B3D4"/>
                </a:solidFill>
              </a:rPr>
              <a:t>rahulnm.c23@rvce.edu.in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38313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926080" y="38313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03520" y="38313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8640" y="4178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926080" y="41788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03520" y="4178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926080" y="4526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30352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62" name="Graphic 1">
            <a:extLst>
              <a:ext uri="{FF2B5EF4-FFF2-40B4-BE49-F238E27FC236}">
                <a16:creationId xmlns:a16="http://schemas.microsoft.com/office/drawing/2014/main" id="{8FF3F540-A35C-F73F-E4D0-CFABCD467F52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63" name="object 7">
            <a:extLst>
              <a:ext uri="{FF2B5EF4-FFF2-40B4-BE49-F238E27FC236}">
                <a16:creationId xmlns:a16="http://schemas.microsoft.com/office/drawing/2014/main" id="{C42AAC8A-5872-4FAC-CCC6-9C2F6B32436A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0"/>
            <a:ext cx="8193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   CONTENTS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2834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822960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822960"/>
            <a:ext cx="411480" cy="65836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8229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" y="987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1627632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1627632"/>
            <a:ext cx="411480" cy="65836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16276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1792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System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2432304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2432304"/>
            <a:ext cx="411480" cy="65836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4323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2596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Identification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236976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236976"/>
            <a:ext cx="411480" cy="65836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369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68680" y="3401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Literature Review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4041648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041648"/>
            <a:ext cx="411480" cy="658368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04164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05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68680" y="4206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Definition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54880" y="822960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822960"/>
            <a:ext cx="411480" cy="658368"/>
          </a:xfrm>
          <a:prstGeom prst="rect">
            <a:avLst/>
          </a:prstGeom>
          <a:solidFill>
            <a:srgbClr val="7A4FFF">
              <a:alpha val="4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82296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FFF"/>
                </a:solidFill>
              </a:rPr>
              <a:t>06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57800" y="987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754880" y="1627632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1627632"/>
            <a:ext cx="411480" cy="658368"/>
          </a:xfrm>
          <a:prstGeom prst="rect">
            <a:avLst/>
          </a:prstGeom>
          <a:solidFill>
            <a:srgbClr val="7A4FFF">
              <a:alpha val="4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1627632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FFF"/>
                </a:solidFill>
              </a:rPr>
              <a:t>07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257800" y="1792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754880" y="2432304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2432304"/>
            <a:ext cx="411480" cy="658368"/>
          </a:xfrm>
          <a:prstGeom prst="rect">
            <a:avLst/>
          </a:prstGeom>
          <a:solidFill>
            <a:srgbClr val="7A4FFF">
              <a:alpha val="4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54880" y="2432304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FFF"/>
                </a:solidFill>
              </a:rPr>
              <a:t>08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257800" y="25968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Proposed Tools &amp; Techniques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4754880" y="3236976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54880" y="3236976"/>
            <a:ext cx="411480" cy="658368"/>
          </a:xfrm>
          <a:prstGeom prst="rect">
            <a:avLst/>
          </a:prstGeom>
          <a:solidFill>
            <a:srgbClr val="7A4FFF">
              <a:alpha val="4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54880" y="3236976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FFF"/>
                </a:solidFill>
              </a:rPr>
              <a:t>09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257800" y="340156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Expected Outcomes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754880" y="4041648"/>
            <a:ext cx="4023360" cy="65836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54880" y="4041648"/>
            <a:ext cx="411480" cy="658368"/>
          </a:xfrm>
          <a:prstGeom prst="rect">
            <a:avLst/>
          </a:prstGeom>
          <a:solidFill>
            <a:srgbClr val="7A4FFF">
              <a:alpha val="4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54880" y="4041648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FFF"/>
                </a:solidFill>
              </a:rPr>
              <a:t>10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257800" y="42062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 &amp; References</a:t>
            </a:r>
            <a:endParaRPr lang="en-US" sz="1300" dirty="0"/>
          </a:p>
        </p:txBody>
      </p:sp>
      <p:pic>
        <p:nvPicPr>
          <p:cNvPr id="69" name="Graphic 1">
            <a:extLst>
              <a:ext uri="{FF2B5EF4-FFF2-40B4-BE49-F238E27FC236}">
                <a16:creationId xmlns:a16="http://schemas.microsoft.com/office/drawing/2014/main" id="{57CC5009-C586-5D4D-184C-8A596DB99038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70" name="object 7">
            <a:extLst>
              <a:ext uri="{FF2B5EF4-FFF2-40B4-BE49-F238E27FC236}">
                <a16:creationId xmlns:a16="http://schemas.microsoft.com/office/drawing/2014/main" id="{1EA9AC1E-CC86-7131-B91D-857BA07645B1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INTRODUCTION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4576" y="25831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777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</a:rPr>
              <a:t>What is StarTrack AR?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" y="1280160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StarTrack AR is an Augmented Reality Android application that enables users to track the International Space Station (ISS) in real time using their smartphone camera.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The app overlays celestial objects directly onto the live camera feed, guiding users to point their phone at the sky and visually locate the ISS.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It combines GPS, phone sensors (accelerometer &amp; magnetometer), live ISS API data, and an AI chatbot into a single immersive astronomy experience.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The system calculates azimuth and elevation angles to align the phone's orientation with the ISS position in the sky, providing real-time directional guidance.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60720" y="82296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877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🛰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6072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</a:rPr>
              <a:t>Live ISS Tracking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82296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877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📡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315200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7FFF"/>
                </a:solidFill>
              </a:rPr>
              <a:t>AR Camera Overlay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187452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19293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760720" y="2313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4FFF"/>
                </a:solidFill>
              </a:rPr>
              <a:t>Direction Guidance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15200" y="187452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192938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315200" y="2313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740"/>
                </a:solidFill>
              </a:rPr>
              <a:t>AI Chatbot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760720" y="292608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🌌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576072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676"/>
                </a:solidFill>
              </a:rPr>
              <a:t>Tonight's Sky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0" y="2926080"/>
            <a:ext cx="1417320" cy="804672"/>
          </a:xfrm>
          <a:prstGeom prst="rect">
            <a:avLst/>
          </a:prstGeom>
          <a:solidFill>
            <a:srgbClr val="0F2240"/>
          </a:solidFill>
          <a:ln w="12700">
            <a:solidFill>
              <a:srgbClr val="7AB3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0" y="298094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7315200" y="33649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B3D4"/>
                </a:solidFill>
              </a:rPr>
              <a:t>Educational Mode</a:t>
            </a:r>
            <a:endParaRPr lang="en-US" sz="900" dirty="0"/>
          </a:p>
        </p:txBody>
      </p:sp>
      <p:pic>
        <p:nvPicPr>
          <p:cNvPr id="49" name="Graphic 1">
            <a:extLst>
              <a:ext uri="{FF2B5EF4-FFF2-40B4-BE49-F238E27FC236}">
                <a16:creationId xmlns:a16="http://schemas.microsoft.com/office/drawing/2014/main" id="{773F6EF8-A70B-ED04-4007-EE4B6C19063E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50" name="object 7">
            <a:extLst>
              <a:ext uri="{FF2B5EF4-FFF2-40B4-BE49-F238E27FC236}">
                <a16:creationId xmlns:a16="http://schemas.microsoft.com/office/drawing/2014/main" id="{8CA5A344-1B3D-A33C-F227-94BFA0C24C19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EXISTING </a:t>
            </a:r>
            <a:r>
              <a:rPr lang="en-US" sz="1300" b="1" kern="0" spc="300" dirty="0">
                <a:solidFill>
                  <a:srgbClr val="00D4FF"/>
                </a:solidFill>
              </a:rPr>
              <a:t>SYSTEM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39128" y="2468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Current Astronomy Apps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65760" y="1261872"/>
            <a:ext cx="2606040" cy="356616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1261872"/>
            <a:ext cx="260604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Sky Map (Google)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17190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Basic AR star overlay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ISS tracking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AI assistant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Static object labels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1261872"/>
            <a:ext cx="2606040" cy="356616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1261872"/>
            <a:ext cx="260604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NASA App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17190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ISS pass notifications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AR camera mode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real-time direction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educational chatbot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1261872"/>
            <a:ext cx="2606040" cy="356616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1261872"/>
            <a:ext cx="260604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1261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Stellarium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1719072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Rich star map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Premium for AR features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ISS live tracking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Complex UI for beginners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40"/>
                </a:solidFill>
              </a:rPr>
              <a:t>⚠  Key Limitations: No unified ISS AR + AI + educational platform exists in a single beginner-friendly mobile app.</a:t>
            </a:r>
            <a:endParaRPr lang="en-US" sz="1000" dirty="0"/>
          </a:p>
        </p:txBody>
      </p:sp>
      <p:pic>
        <p:nvPicPr>
          <p:cNvPr id="44" name="Graphic 1">
            <a:extLst>
              <a:ext uri="{FF2B5EF4-FFF2-40B4-BE49-F238E27FC236}">
                <a16:creationId xmlns:a16="http://schemas.microsoft.com/office/drawing/2014/main" id="{9D22D134-6C8C-FF3A-3496-92DE7D88924E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45" name="object 7">
            <a:extLst>
              <a:ext uri="{FF2B5EF4-FFF2-40B4-BE49-F238E27FC236}">
                <a16:creationId xmlns:a16="http://schemas.microsoft.com/office/drawing/2014/main" id="{BFA2B239-D09E-50DB-6D76-A8EC7D2213F7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IDENTIFICATION </a:t>
            </a:r>
            <a:r>
              <a:rPr lang="en-US" sz="1300" b="1" kern="0" spc="300" dirty="0">
                <a:solidFill>
                  <a:srgbClr val="00D4FF"/>
                </a:solidFill>
              </a:rPr>
              <a:t>OF PROBLEM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2651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8229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15568" y="932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No Real-Time ISS Direction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15568" y="1243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Existing apps lack live azimuth/elevation guidance to point your phone directly at the ISS.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8229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10789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13248" y="9326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No Integrated AR Overlay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1243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Most apps separate the map view from the camera — no seamless AR ISS overlay exists.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1945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" y="24505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15568" y="23042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No AI Astronomy Assistant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15568" y="26151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No app provides a conversational AI to answer space questions in context with live tracking.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21945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0600" y="24505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413248" y="23042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No Unified Sky Dashboard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413248" y="26151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Pass times, planet positions, light pollution and ISS data are all in separate apps.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35661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02920" y="38221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115568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Poor Beginner Accessibility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115568" y="3986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Complex interfaces and technical jargon make existing tools inaccessible to newcomers.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3566160"/>
            <a:ext cx="4114800" cy="11887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00600" y="3822192"/>
            <a:ext cx="502920" cy="50292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3822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📡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413248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No Sensor Fusion Guidance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413248" y="39867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No app fuses GPS + magnetometer + accelerometer to give real-time tilt/turn instructions.</a:t>
            </a:r>
            <a:endParaRPr lang="en-US" sz="1000" dirty="0"/>
          </a:p>
        </p:txBody>
      </p:sp>
      <p:pic>
        <p:nvPicPr>
          <p:cNvPr id="59" name="Graphic 1">
            <a:extLst>
              <a:ext uri="{FF2B5EF4-FFF2-40B4-BE49-F238E27FC236}">
                <a16:creationId xmlns:a16="http://schemas.microsoft.com/office/drawing/2014/main" id="{B2777008-48B9-CA59-E4F0-3BBAA4BD3342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60" name="object 7">
            <a:extLst>
              <a:ext uri="{FF2B5EF4-FFF2-40B4-BE49-F238E27FC236}">
                <a16:creationId xmlns:a16="http://schemas.microsoft.com/office/drawing/2014/main" id="{AE9B4291-6858-05C7-4EE4-C8DBB2B6EC67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LITERATURE </a:t>
            </a:r>
            <a:r>
              <a:rPr lang="en-US" sz="1300" b="1" kern="0" spc="300" dirty="0">
                <a:solidFill>
                  <a:srgbClr val="00D4FF"/>
                </a:solidFill>
              </a:rPr>
              <a:t>REVIEW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9102" y="23774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7772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#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7772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App / Paper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777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Technique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434840" y="777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Contribution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777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Gap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1097280"/>
            <a:ext cx="8412480" cy="74980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11430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8680" y="11430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Sky Map — Google (2019)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06040" y="11430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Android AR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34840" y="114300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Real-time star overlay on camera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37960" y="11430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No ISS, no AI, no pass alerts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1847088"/>
            <a:ext cx="841248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1892808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2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68680" y="189280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Heavens-Above Web (2022)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06040" y="18928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Web-based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434840" y="1892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Accurate ISS pass predictions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37960" y="18928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No AR, no mobile camera mode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2596896"/>
            <a:ext cx="8412480" cy="74980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264261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3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68680" y="264261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NASA Spacecraft AR (2023)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606040" y="264261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ARCore + APIs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34840" y="264261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3D spacecraft AR visualization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37960" y="264261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No live ISS tracking or AI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346704"/>
            <a:ext cx="841248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39242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68680" y="339242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Stellarium Mobile (2024)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606040" y="3392424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OpenGL + GPS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434840" y="33924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Rich planetarium simulation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537960" y="339242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Paid AR, no ISS direction guidance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096512"/>
            <a:ext cx="8412480" cy="749808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14223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</a:rPr>
              <a:t>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68680" y="414223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SkyView Lite (2024)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606040" y="414223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Sensor fusion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434840" y="41422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Compass-based sky navigation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537960" y="41422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No ISS, no AI, no pass times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D740"/>
                </a:solidFill>
              </a:rPr>
              <a:t>Gap identified: No single app combines live ISS AR tracking + AI assistant + beginner guidance on Android.</a:t>
            </a:r>
            <a:endParaRPr lang="en-US" sz="900" dirty="0"/>
          </a:p>
        </p:txBody>
      </p:sp>
      <p:pic>
        <p:nvPicPr>
          <p:cNvPr id="66" name="Graphic 1">
            <a:extLst>
              <a:ext uri="{FF2B5EF4-FFF2-40B4-BE49-F238E27FC236}">
                <a16:creationId xmlns:a16="http://schemas.microsoft.com/office/drawing/2014/main" id="{C019202B-4684-F94A-07AD-DFC3C88721FA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67" name="object 7">
            <a:extLst>
              <a:ext uri="{FF2B5EF4-FFF2-40B4-BE49-F238E27FC236}">
                <a16:creationId xmlns:a16="http://schemas.microsoft.com/office/drawing/2014/main" id="{5AC9A529-3AEC-71C7-E20D-01B777466DAC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 PROBLEM </a:t>
            </a:r>
            <a:r>
              <a:rPr lang="en-US" sz="1300" b="1" kern="0" spc="300" dirty="0">
                <a:solidFill>
                  <a:srgbClr val="00D4FF"/>
                </a:solidFill>
              </a:rPr>
              <a:t>DEFINITION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85432" y="224731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777240"/>
            <a:ext cx="8412480" cy="128016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822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D4FF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117043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There is no unified mobile application that provides real-time AR-based ISS tracking with live directional sensor fusion, planet position visualization, an AI-powered astronomy assistant, and beginner-friendly educational content — all in a single accessible Android app.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2286000"/>
            <a:ext cx="196596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408 km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36576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3D4"/>
                </a:solidFill>
              </a:rPr>
              <a:t>ISS Altitude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14600" y="2286000"/>
            <a:ext cx="196596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14600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27,600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251460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3D4"/>
                </a:solidFill>
              </a:rPr>
              <a:t>km/h ISS Speed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286000"/>
            <a:ext cx="196596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663440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92 min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66344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3D4"/>
                </a:solidFill>
              </a:rPr>
              <a:t>Orbital Period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12280" y="2286000"/>
            <a:ext cx="1965960" cy="10058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12280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FF"/>
                </a:solidFill>
              </a:rPr>
              <a:t>15.5x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812280" y="28346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B3D4"/>
                </a:solidFill>
              </a:rPr>
              <a:t>Daily Earth Orbits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3493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4FFF"/>
                </a:solidFill>
              </a:rPr>
              <a:t>Scope of Solution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65760" y="3858768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Android application built in Java using Android Studio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Real-time ISS position via wheretheiss.at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AR camera overlay using CameraX + sensor fusion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Claude AI chatbot for astronomy Q&amp;A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Planet positions, pass times, light pollution data</a:t>
            </a:r>
            <a:endParaRPr lang="en-US" sz="1100" dirty="0"/>
          </a:p>
        </p:txBody>
      </p:sp>
      <p:pic>
        <p:nvPicPr>
          <p:cNvPr id="46" name="Graphic 1">
            <a:extLst>
              <a:ext uri="{FF2B5EF4-FFF2-40B4-BE49-F238E27FC236}">
                <a16:creationId xmlns:a16="http://schemas.microsoft.com/office/drawing/2014/main" id="{4D887BB8-B616-A460-E427-D912222A7955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47" name="object 7">
            <a:extLst>
              <a:ext uri="{FF2B5EF4-FFF2-40B4-BE49-F238E27FC236}">
                <a16:creationId xmlns:a16="http://schemas.microsoft.com/office/drawing/2014/main" id="{8B038DB5-0EFD-03A0-DC3A-383CCF20E6E9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-13716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     OBJECTIVES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0170" y="21945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777240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FF"/>
                </a:solidFill>
              </a:rPr>
              <a:t>01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14400" y="886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Real-Time ISS Tracking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1234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Fetch live ISS coordinates every 3 seconds and display lat/lon with directional guidance.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777240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4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777240"/>
            <a:ext cx="457200" cy="1234440"/>
          </a:xfrm>
          <a:prstGeom prst="rect">
            <a:avLst/>
          </a:prstGeom>
          <a:solidFill>
            <a:srgbClr val="4A7FFF">
              <a:alpha val="30000"/>
            </a:srgbClr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7772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7FFF"/>
                </a:solidFill>
              </a:rPr>
              <a:t>02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57800" y="886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FFF"/>
                </a:solidFill>
              </a:rPr>
              <a:t>AR Camera Overlay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1234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Use CameraX to draw ISS icon over live camera feed, positioned by azimuth/elevation.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2167128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7A4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2167128"/>
            <a:ext cx="457200" cy="1234440"/>
          </a:xfrm>
          <a:prstGeom prst="rect">
            <a:avLst/>
          </a:prstGeom>
          <a:solidFill>
            <a:srgbClr val="7A4FFF">
              <a:alpha val="3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216712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4FFF"/>
                </a:solidFill>
              </a:rPr>
              <a:t>03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4FFF"/>
                </a:solidFill>
              </a:rPr>
              <a:t>Sensor Fusion Navigation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14400" y="2624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Combine GPS + accelerometer + magnetometer to tell users exactly where to point their phone.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09160" y="2167128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2167128"/>
            <a:ext cx="457200" cy="1234440"/>
          </a:xfrm>
          <a:prstGeom prst="rect">
            <a:avLst/>
          </a:prstGeom>
          <a:solidFill>
            <a:srgbClr val="FFD740">
              <a:alpha val="30000"/>
            </a:srgbClr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2167128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740"/>
                </a:solidFill>
              </a:rPr>
              <a:t>04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257800" y="227685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40"/>
                </a:solidFill>
              </a:rPr>
              <a:t>AI Astronomy Chatbot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57800" y="2624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Integrate Claude API to answer space questions with beginner-friendly explanations.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557016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557016"/>
            <a:ext cx="457200" cy="1234440"/>
          </a:xfrm>
          <a:prstGeom prst="rect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55701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</a:rPr>
              <a:t>05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914400" y="3666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Tonight's Sky Dashboard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14400" y="40142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Show visible planets, ISS pass times, light pollution index, and best viewing time.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09160" y="3557016"/>
            <a:ext cx="4160520" cy="1234440"/>
          </a:xfrm>
          <a:prstGeom prst="rect">
            <a:avLst/>
          </a:prstGeom>
          <a:solidFill>
            <a:srgbClr val="0F2240"/>
          </a:solidFill>
          <a:ln w="12700">
            <a:solidFill>
              <a:srgbClr val="7AB3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09160" y="3557016"/>
            <a:ext cx="457200" cy="1234440"/>
          </a:xfrm>
          <a:prstGeom prst="rect">
            <a:avLst/>
          </a:prstGeom>
          <a:solidFill>
            <a:srgbClr val="7AB3D4">
              <a:alpha val="30000"/>
            </a:srgbClr>
          </a:solidFill>
          <a:ln w="12700">
            <a:solidFill>
              <a:srgbClr val="7AB3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3557016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B3D4"/>
                </a:solidFill>
              </a:rPr>
              <a:t>06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5257800" y="3666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B3D4"/>
                </a:solidFill>
              </a:rPr>
              <a:t>Educational Mode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257800" y="401421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Display ISS history, orbit data, live speed/altitude stats, and space facts.</a:t>
            </a:r>
            <a:endParaRPr lang="en-US" sz="1050" dirty="0"/>
          </a:p>
        </p:txBody>
      </p:sp>
      <p:pic>
        <p:nvPicPr>
          <p:cNvPr id="59" name="Graphic 1">
            <a:extLst>
              <a:ext uri="{FF2B5EF4-FFF2-40B4-BE49-F238E27FC236}">
                <a16:creationId xmlns:a16="http://schemas.microsoft.com/office/drawing/2014/main" id="{9A74D55C-43A6-C761-1D87-3D8BE76E6D30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60" name="object 7">
            <a:extLst>
              <a:ext uri="{FF2B5EF4-FFF2-40B4-BE49-F238E27FC236}">
                <a16:creationId xmlns:a16="http://schemas.microsoft.com/office/drawing/2014/main" id="{EEF7BDBB-5D93-F733-6590-5660B69877A0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-26729" y="-9144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  METHODOLOGY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73474" y="228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77724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886968"/>
            <a:ext cx="438912" cy="43891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886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7824" y="9144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GPS Location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1399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FusedLocationProviderClient fetches user lat/lon.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Updates every 5 seconds with 10m displacement filter.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926080" y="1645920"/>
            <a:ext cx="292608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27248" y="149047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FF"/>
                </a:solidFill>
              </a:rPr>
              <a:t>›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218688" y="77724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4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10128" y="886968"/>
            <a:ext cx="438912" cy="438912"/>
          </a:xfrm>
          <a:prstGeom prst="ellipse">
            <a:avLst/>
          </a:prstGeom>
          <a:solidFill>
            <a:srgbClr val="4A7FFF">
              <a:alpha val="30000"/>
            </a:srgbClr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886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7FFF"/>
                </a:solidFill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22192" y="9144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FF"/>
                </a:solidFill>
              </a:rPr>
              <a:t>ISS API Fetch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10128" y="1399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OkHttp calls wheretheiss.at every 3s.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Returns lat, lon, altitude, velocity.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70448" y="1645920"/>
            <a:ext cx="292608" cy="0"/>
          </a:xfrm>
          <a:prstGeom prst="line">
            <a:avLst/>
          </a:prstGeom>
          <a:noFill/>
          <a:ln w="12700">
            <a:solidFill>
              <a:srgbClr val="4A7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71616" y="149047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7FFF"/>
                </a:solidFill>
              </a:rPr>
              <a:t>›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163056" y="77724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7A4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54496" y="886968"/>
            <a:ext cx="438912" cy="438912"/>
          </a:xfrm>
          <a:prstGeom prst="ellipse">
            <a:avLst/>
          </a:prstGeom>
          <a:solidFill>
            <a:srgbClr val="7A4FFF">
              <a:alpha val="3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886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4F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66560" y="91440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4FFF"/>
                </a:solidFill>
              </a:rPr>
              <a:t>Sky Coordinates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54496" y="139903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Haversine formula converts positions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azimuth (compass) and elevation angle.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288036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65760" y="2990088"/>
            <a:ext cx="438912" cy="438912"/>
          </a:xfrm>
          <a:prstGeom prst="ellipse">
            <a:avLst/>
          </a:prstGeom>
          <a:solidFill>
            <a:srgbClr val="FFD740">
              <a:alpha val="30000"/>
            </a:srgbClr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990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40"/>
                </a:solidFill>
              </a:rPr>
              <a:t>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77824" y="30175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</a:rPr>
              <a:t>Sensor Fusion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35021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Accelerometer + magnetometer → rotation matrix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→ phone azimuth &amp; pitch via SensorManager.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26080" y="3749040"/>
            <a:ext cx="292608" cy="0"/>
          </a:xfrm>
          <a:prstGeom prst="line">
            <a:avLst/>
          </a:prstGeom>
          <a:noFill/>
          <a:ln w="12700">
            <a:solidFill>
              <a:srgbClr val="FFD74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27248" y="35935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740"/>
                </a:solidFill>
              </a:rPr>
              <a:t>›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3218688" y="288036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310128" y="2990088"/>
            <a:ext cx="438912" cy="438912"/>
          </a:xfrm>
          <a:prstGeom prst="ellipse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10128" y="2990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822192" y="30175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</a:rPr>
              <a:t>Direction Match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310128" y="35021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Difference between ISS direction and phone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direction → Turn LEFT/RIGHT + Tilt UP/DOWN.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870448" y="3749040"/>
            <a:ext cx="292608" cy="0"/>
          </a:xfrm>
          <a:prstGeom prst="line">
            <a:avLst/>
          </a:prstGeom>
          <a:noFill/>
          <a:ln w="12700">
            <a:solidFill>
              <a:srgbClr val="00E67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71616" y="3593592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E676"/>
                </a:solidFill>
              </a:rPr>
              <a:t>›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6163056" y="2880360"/>
            <a:ext cx="2651760" cy="1737360"/>
          </a:xfrm>
          <a:prstGeom prst="rect">
            <a:avLst/>
          </a:prstGeom>
          <a:solidFill>
            <a:srgbClr val="0F2240"/>
          </a:solidFill>
          <a:ln w="12700">
            <a:solidFill>
              <a:srgbClr val="7AB3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254496" y="2990088"/>
            <a:ext cx="438912" cy="438912"/>
          </a:xfrm>
          <a:prstGeom prst="ellipse">
            <a:avLst/>
          </a:prstGeom>
          <a:solidFill>
            <a:srgbClr val="7AB3D4">
              <a:alpha val="30000"/>
            </a:srgbClr>
          </a:solidFill>
          <a:ln w="12700">
            <a:solidFill>
              <a:srgbClr val="7AB3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54496" y="2990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AB3D4"/>
                </a:solidFill>
              </a:rPr>
              <a:t>6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66560" y="3017520"/>
            <a:ext cx="193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B3D4"/>
                </a:solidFill>
              </a:rPr>
              <a:t>AR Overlay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254496" y="350215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CameraX preview + floating ISS icon moves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across screen based on azimuth/elevation diff.</a:t>
            </a:r>
            <a:endParaRPr lang="en-US" sz="1000" dirty="0"/>
          </a:p>
        </p:txBody>
      </p:sp>
      <p:pic>
        <p:nvPicPr>
          <p:cNvPr id="67" name="Graphic 1">
            <a:extLst>
              <a:ext uri="{FF2B5EF4-FFF2-40B4-BE49-F238E27FC236}">
                <a16:creationId xmlns:a16="http://schemas.microsoft.com/office/drawing/2014/main" id="{808B0E7C-ABC1-1385-B0BF-786584599F57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68" name="object 7">
            <a:extLst>
              <a:ext uri="{FF2B5EF4-FFF2-40B4-BE49-F238E27FC236}">
                <a16:creationId xmlns:a16="http://schemas.microsoft.com/office/drawing/2014/main" id="{82CE43D4-10A3-614B-2C76-1DAE5380079C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PROPOSED </a:t>
            </a:r>
            <a:r>
              <a:rPr lang="en-US" sz="1300" b="1" kern="0" spc="300" dirty="0">
                <a:solidFill>
                  <a:srgbClr val="00D4FF"/>
                </a:solidFill>
              </a:rPr>
              <a:t>TOOLS &amp; TECHNIQUES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8644" y="23774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77724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777240"/>
            <a:ext cx="2697480" cy="347472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Language &amp; IDE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117957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Java (Android)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Android Studio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Gradle Build System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18688" y="77724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4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777240"/>
            <a:ext cx="2697480" cy="347472"/>
          </a:xfrm>
          <a:prstGeom prst="rect">
            <a:avLst/>
          </a:prstGeom>
          <a:solidFill>
            <a:srgbClr val="4A7FFF">
              <a:alpha val="30000"/>
            </a:srgbClr>
          </a:solidFill>
          <a:ln w="12700">
            <a:solidFill>
              <a:srgbClr val="4A7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FFF"/>
                </a:solidFill>
              </a:rPr>
              <a:t>APIs &amp; Networking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128" y="117957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wheretheiss.at — ISS position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N2YO — ISS pass predictions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OkHttp 4.12 — HTTP client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63056" y="77724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7A4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777240"/>
            <a:ext cx="2697480" cy="347472"/>
          </a:xfrm>
          <a:prstGeom prst="rect">
            <a:avLst/>
          </a:prstGeom>
          <a:solidFill>
            <a:srgbClr val="7A4FFF">
              <a:alpha val="30000"/>
            </a:srgbClr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36208" y="7772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4FFF"/>
                </a:solidFill>
              </a:rPr>
              <a:t>Sensors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54496" y="117957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Accelerometer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Magnetometer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FusedLocationProviderClient (GPS)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292608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2926080"/>
            <a:ext cx="2697480" cy="347472"/>
          </a:xfrm>
          <a:prstGeom prst="rect">
            <a:avLst/>
          </a:prstGeom>
          <a:solidFill>
            <a:srgbClr val="FFD740">
              <a:alpha val="30000"/>
            </a:srgbClr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</a:rPr>
              <a:t>Camera &amp; AR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65760" y="332841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CameraX 1.3.0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FrameLayout overlay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Pixel-per-degree mapping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18688" y="292608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18688" y="2926080"/>
            <a:ext cx="2697480" cy="347472"/>
          </a:xfrm>
          <a:prstGeom prst="rect">
            <a:avLst/>
          </a:prstGeom>
          <a:solidFill>
            <a:srgbClr val="00E676">
              <a:alpha val="3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91840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AI Integration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310128" y="332841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Anthropic Claude API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claude-sonnet model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REST via OkHttp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163056" y="2926080"/>
            <a:ext cx="2697480" cy="1965960"/>
          </a:xfrm>
          <a:prstGeom prst="rect">
            <a:avLst/>
          </a:prstGeom>
          <a:solidFill>
            <a:srgbClr val="0F2240"/>
          </a:solidFill>
          <a:ln w="12700">
            <a:solidFill>
              <a:srgbClr val="7AB3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63056" y="2926080"/>
            <a:ext cx="2697480" cy="347472"/>
          </a:xfrm>
          <a:prstGeom prst="rect">
            <a:avLst/>
          </a:prstGeom>
          <a:solidFill>
            <a:srgbClr val="7AB3D4">
              <a:alpha val="30000"/>
            </a:srgbClr>
          </a:solidFill>
          <a:ln w="12700">
            <a:solidFill>
              <a:srgbClr val="7AB3D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36208" y="29260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B3D4"/>
                </a:solidFill>
              </a:rPr>
              <a:t>Astronomy APIs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254496" y="3328416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AstronomyAPI.com — planets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LightPollutionMap.info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Open Notify (legacy)</a:t>
            </a:r>
            <a:endParaRPr lang="en-US" sz="1050" dirty="0"/>
          </a:p>
        </p:txBody>
      </p:sp>
      <p:pic>
        <p:nvPicPr>
          <p:cNvPr id="53" name="Graphic 1">
            <a:extLst>
              <a:ext uri="{FF2B5EF4-FFF2-40B4-BE49-F238E27FC236}">
                <a16:creationId xmlns:a16="http://schemas.microsoft.com/office/drawing/2014/main" id="{F66FC29E-E805-5391-A508-71B4227F2200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54" name="object 7">
            <a:extLst>
              <a:ext uri="{FF2B5EF4-FFF2-40B4-BE49-F238E27FC236}">
                <a16:creationId xmlns:a16="http://schemas.microsoft.com/office/drawing/2014/main" id="{A9E26F45-9219-09F3-2EBD-3604CB47AD13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EXPECTED </a:t>
            </a:r>
            <a:r>
              <a:rPr lang="en-US" sz="1300" b="1" kern="0" spc="300" dirty="0">
                <a:solidFill>
                  <a:srgbClr val="00D4FF"/>
                </a:solidFill>
              </a:rPr>
              <a:t>OUTCOMES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7103" y="22402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77724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74320" y="886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🛰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365760" y="1435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</a:rPr>
              <a:t>Live ISS AR Tracking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17830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User points phone at sky and sees ISS icon floating over live camera feed in real time.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18688" y="77724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4A7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18688" y="886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310128" y="1435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7FFF"/>
                </a:solidFill>
              </a:rPr>
              <a:t>Directional Guidance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0128" y="17830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App tells user 'Turn RIGHT 24°, Tilt UP 18°' and shows rotating arrow indicator.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63056" y="77724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7A4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63056" y="8869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254496" y="14356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4FFF"/>
                </a:solidFill>
              </a:rPr>
              <a:t>AI Chatbot Responses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54496" y="178308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Claude AI answers astronomy questions instantly inside the app with beginner-friendly text.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288036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FFD74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🌌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365760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40"/>
                </a:solidFill>
              </a:rPr>
              <a:t>Tonight's Sky Dashboard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38862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Complete view of visible planets, ISS pass times, and sky clarity from user's location.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18688" y="288036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3218688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3310128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</a:rPr>
              <a:t>Educational Experience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310128" y="38862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Users learn ISS history, orbital mechanics, and live stats in an interactive format.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63056" y="2880360"/>
            <a:ext cx="2743200" cy="1920240"/>
          </a:xfrm>
          <a:prstGeom prst="rect">
            <a:avLst/>
          </a:prstGeom>
          <a:solidFill>
            <a:srgbClr val="0F2240"/>
          </a:solidFill>
          <a:ln w="12700">
            <a:solidFill>
              <a:srgbClr val="7AB3D4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163056" y="2990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6254496" y="3538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B3D4"/>
                </a:solidFill>
              </a:rPr>
              <a:t>Smart Notifications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54496" y="388620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App alerts user when ISS is above 10° elevation and visible from their location.</a:t>
            </a:r>
            <a:endParaRPr lang="en-US" sz="1000" dirty="0"/>
          </a:p>
        </p:txBody>
      </p:sp>
      <p:pic>
        <p:nvPicPr>
          <p:cNvPr id="53" name="Graphic 1">
            <a:extLst>
              <a:ext uri="{FF2B5EF4-FFF2-40B4-BE49-F238E27FC236}">
                <a16:creationId xmlns:a16="http://schemas.microsoft.com/office/drawing/2014/main" id="{E7064FE0-F60E-724D-1C93-D9CAFBA7914A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54" name="object 7">
            <a:extLst>
              <a:ext uri="{FF2B5EF4-FFF2-40B4-BE49-F238E27FC236}">
                <a16:creationId xmlns:a16="http://schemas.microsoft.com/office/drawing/2014/main" id="{CBEB87CE-DBD2-9D65-AEC2-A0C93BA1A1DD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2906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CONCLUSION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92466" y="26763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777240"/>
            <a:ext cx="8412480" cy="137160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8686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StarTrack AR demonstrates how modern Android technologies — sensor fusion, real-time APIs, CameraX, and AI — can be combined into a single immersive astronomy application. Unlike existing apps, it provides end-to-end guidance from locating the ISS in the sky to understanding its orbit, all within a beginner-friendly AR interface.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304288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23042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Real-time ISS AR overlay with live directional guidance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304288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3042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Sensor fusion (GPS + accelerometer + magnetometer) for accurate pointing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2962656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29626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AI-powered astronomy chatbot for interactive learning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962656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29626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Tonight's Sky with planets, pass times, light pollution data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621024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6210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Beginner-friendly educational content and ISS history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3621024"/>
            <a:ext cx="4160520" cy="530352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6210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Notification system for ISS visibility alerts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315968"/>
            <a:ext cx="841248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7A4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3708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A4FFF"/>
                </a:solidFill>
              </a:rPr>
              <a:t>Future Scope: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28800" y="437083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B3D4"/>
                </a:solidFill>
              </a:rPr>
              <a:t>Telescope integration  ·  Star constellation AR  ·  Offline mode  ·  Apple iOS port  ·  Social sky-sharing</a:t>
            </a:r>
            <a:endParaRPr lang="en-US" sz="1000" dirty="0"/>
          </a:p>
        </p:txBody>
      </p:sp>
      <p:pic>
        <p:nvPicPr>
          <p:cNvPr id="46" name="Graphic 1">
            <a:extLst>
              <a:ext uri="{FF2B5EF4-FFF2-40B4-BE49-F238E27FC236}">
                <a16:creationId xmlns:a16="http://schemas.microsoft.com/office/drawing/2014/main" id="{5ED1A276-4149-811E-C762-E5DDEC355C10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47" name="object 7">
            <a:extLst>
              <a:ext uri="{FF2B5EF4-FFF2-40B4-BE49-F238E27FC236}">
                <a16:creationId xmlns:a16="http://schemas.microsoft.com/office/drawing/2014/main" id="{34D6CEDD-03DC-C6DB-5A6A-7154BB4EAE0A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0000"/>
            </a:srgbClr>
          </a:solidFill>
          <a:ln w="12700">
            <a:solidFill>
              <a:srgbClr val="0A162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0D4FF"/>
                </a:solidFill>
              </a:rPr>
              <a:t>                                             REFERENCES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0" y="20538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B3D4"/>
                </a:solidFill>
              </a:rPr>
              <a:t>✦ STARTRACK 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749808"/>
            <a:ext cx="8412480" cy="4160520"/>
          </a:xfrm>
          <a:prstGeom prst="rect">
            <a:avLst/>
          </a:prstGeom>
          <a:solidFill>
            <a:srgbClr val="0F2240"/>
          </a:solidFill>
          <a:ln w="12700">
            <a:solidFill>
              <a:srgbClr val="1A3A5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868680"/>
            <a:ext cx="8046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[1] wheretheiss.at API — Live ISS Position Tracking Service. Available: https://wheretheiss.at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[2] N2YO.com — Real-Time Satellite Tracking and Pass Predictions. Available: https://n2yo.com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[3] Anthropic — Claude API Documentation. Available: https://docs.anthropic.com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[4] AstronomyAPI.com — Planet Position and Celestial Body Data API.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[5] Google Developer Docs — CameraX Android Library, v1.3.0.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[6] Android Developer Docs — SensorManager, FusedLocationProviderClient.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[7] Celestrak.org — NORAD TLE Data for Satellite 25544 (ISS).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[8] LightPollutionMap.info — Global Sky Brightness and Bortle Scale Data.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[9] OkHttp — Square Open Source HTTP Client for Android. Available: https://square.github.io/okhttp</a:t>
            </a:r>
            <a:endParaRPr lang="en-US" sz="105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</a:rPr>
              <a:t>[10] NASA — International Space Station Overview. Available: https://www.nasa.gov/station</a:t>
            </a:r>
            <a:endParaRPr lang="en-US" sz="1050" dirty="0"/>
          </a:p>
        </p:txBody>
      </p:sp>
      <p:pic>
        <p:nvPicPr>
          <p:cNvPr id="31" name="Graphic 1">
            <a:extLst>
              <a:ext uri="{FF2B5EF4-FFF2-40B4-BE49-F238E27FC236}">
                <a16:creationId xmlns:a16="http://schemas.microsoft.com/office/drawing/2014/main" id="{41F0315D-D611-2E75-A898-F0FE64417B75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32" name="object 7">
            <a:extLst>
              <a:ext uri="{FF2B5EF4-FFF2-40B4-BE49-F238E27FC236}">
                <a16:creationId xmlns:a16="http://schemas.microsoft.com/office/drawing/2014/main" id="{FC482BC3-4433-E68E-8D83-90C0EE4BE7D6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D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65760" y="2743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0" y="457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49040" y="822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0" y="182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6400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365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0" y="9144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9202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6459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286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0" y="14630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0116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31089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83464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27432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38912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40233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0" y="36576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75488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457200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0" y="4937760"/>
            <a:ext cx="36576" cy="36576"/>
          </a:xfrm>
          <a:prstGeom prst="ellipse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4A7FFF">
              <a:alpha val="12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1005840"/>
            <a:ext cx="2560320" cy="2560320"/>
          </a:xfrm>
          <a:prstGeom prst="ellipse">
            <a:avLst/>
          </a:prstGeom>
          <a:solidFill>
            <a:srgbClr val="7A4FFF">
              <a:alpha val="18000"/>
            </a:srgbClr>
          </a:solidFill>
          <a:ln w="12700">
            <a:solidFill>
              <a:srgbClr val="7A4FFF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31920" y="1645920"/>
            <a:ext cx="1280160" cy="1280160"/>
          </a:xfrm>
          <a:prstGeom prst="ellipse">
            <a:avLst/>
          </a:prstGeom>
          <a:solidFill>
            <a:srgbClr val="00D4FF">
              <a:alpha val="28000"/>
            </a:srgbClr>
          </a:solidFill>
          <a:ln w="12700">
            <a:solidFill>
              <a:srgbClr val="00D4F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B3D4"/>
                </a:solidFill>
              </a:rPr>
              <a:t>StarTrack AR  ·  Augmented Reality Astronomy Observation Assistant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286000" y="3337560"/>
            <a:ext cx="4572000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B3D4"/>
                </a:solidFill>
              </a:rPr>
              <a:t>VI Semester  ·  Phase-I Review  ·  Experiential Learning EVEN 2025–26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914400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35" name="Graphic 1">
            <a:extLst>
              <a:ext uri="{FF2B5EF4-FFF2-40B4-BE49-F238E27FC236}">
                <a16:creationId xmlns:a16="http://schemas.microsoft.com/office/drawing/2014/main" id="{76E4543F-B217-95FE-3F04-1A4664D4FA87}"/>
              </a:ext>
            </a:extLst>
          </p:cNvPr>
          <p:cNvPicPr/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27" t="19174" r="56215" b="23772"/>
          <a:stretch/>
        </p:blipFill>
        <p:spPr>
          <a:xfrm>
            <a:off x="91440" y="19545"/>
            <a:ext cx="1746210" cy="621942"/>
          </a:xfrm>
          <a:prstGeom prst="rect">
            <a:avLst/>
          </a:prstGeom>
        </p:spPr>
      </p:pic>
      <p:sp>
        <p:nvSpPr>
          <p:cNvPr id="36" name="object 7">
            <a:extLst>
              <a:ext uri="{FF2B5EF4-FFF2-40B4-BE49-F238E27FC236}">
                <a16:creationId xmlns:a16="http://schemas.microsoft.com/office/drawing/2014/main" id="{EEF58E16-3EE0-768D-B92D-7BCA22232DAB}"/>
              </a:ext>
            </a:extLst>
          </p:cNvPr>
          <p:cNvSpPr txBox="1"/>
          <p:nvPr/>
        </p:nvSpPr>
        <p:spPr>
          <a:xfrm>
            <a:off x="6774511" y="-48514"/>
            <a:ext cx="3182112" cy="444500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Go, change </a:t>
            </a:r>
            <a:r>
              <a:rPr sz="1600" b="1" i="1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the</a:t>
            </a:r>
            <a:r>
              <a:rPr sz="1600" b="1" i="1" spc="-8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 </a:t>
            </a:r>
            <a:r>
              <a:rPr sz="1600" b="1" i="1" spc="-5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world</a:t>
            </a:r>
            <a:r>
              <a:rPr lang="en-IN" sz="2800" b="1" i="1" spc="-5" baseline="30000" dirty="0">
                <a:solidFill>
                  <a:schemeClr val="bg2"/>
                </a:solidFill>
                <a:latin typeface="Playfair Display"/>
                <a:ea typeface="ＭＳ Ｐゴシック" charset="0"/>
                <a:cs typeface="Playfair Display"/>
              </a:rPr>
              <a:t>®</a:t>
            </a:r>
            <a:r>
              <a:rPr lang="en-IN" sz="2800" b="1" i="1" spc="-5" dirty="0">
                <a:latin typeface="Playfair Display"/>
                <a:ea typeface="ＭＳ Ｐゴシック" charset="0"/>
                <a:cs typeface="Playfair Display"/>
              </a:rPr>
              <a:t> </a:t>
            </a:r>
            <a:endParaRPr sz="2800" b="1" dirty="0">
              <a:latin typeface="Playfair Display"/>
              <a:ea typeface="ＭＳ Ｐゴシック" charset="0"/>
              <a:cs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3243</TotalTime>
  <Words>1592</Words>
  <Application>Microsoft Office PowerPoint</Application>
  <PresentationFormat>On-screen Show (16:9)</PresentationFormat>
  <Paragraphs>305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Playfair Display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StarTrack AR</dc:title>
  <dc:subject>PptxGenJS Presentation</dc:subject>
  <dc:creator>PptxGenJS</dc:creator>
  <cp:lastModifiedBy>Rahul NM</cp:lastModifiedBy>
  <cp:revision>4</cp:revision>
  <dcterms:created xsi:type="dcterms:W3CDTF">2026-05-15T05:15:28Z</dcterms:created>
  <dcterms:modified xsi:type="dcterms:W3CDTF">2026-06-22T20:43:28Z</dcterms:modified>
</cp:coreProperties>
</file>